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830c7e3d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830c7e3d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43c977ac13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43c977ac13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3c977ac1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43c977ac1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4539c8c98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4539c8c98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4539c8c98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4539c8c98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4539c8c98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4539c8c98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539c8c98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539c8c98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539c8c98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539c8c98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4539c8c98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4539c8c98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4539c8c98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4539c8c98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4539c8c98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4539c8c98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4539c8c98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4539c8c98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539c8c98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4539c8c98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4539c8c98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4539c8c98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4539c8c98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4539c8c98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4539c8c98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4539c8c98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4539c8c98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4539c8c98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4539c8c98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4539c8c98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4539c8c98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4539c8c98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45863bfb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45863bfb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43c977ac1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43c977ac1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160600" y="2340900"/>
            <a:ext cx="6860700" cy="11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160600" y="3663675"/>
            <a:ext cx="66717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159000" y="0"/>
            <a:ext cx="2159100" cy="21591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rpV_3 300_lzw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160589" cy="4319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est_100pc bit"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3825" y="3681126"/>
            <a:ext cx="910650" cy="13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2800"/>
              <a:buNone/>
              <a:defRPr b="1">
                <a:solidFill>
                  <a:srgbClr val="4A86E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sz="1600"/>
            </a:lvl1pPr>
            <a:lvl2pPr lvl="1" rtl="0" algn="ctr">
              <a:buNone/>
              <a:defRPr sz="1600"/>
            </a:lvl2pPr>
            <a:lvl3pPr lvl="2" rtl="0" algn="ctr">
              <a:buNone/>
              <a:defRPr sz="1600"/>
            </a:lvl3pPr>
            <a:lvl4pPr lvl="3" rtl="0" algn="ctr">
              <a:buNone/>
              <a:defRPr sz="1600"/>
            </a:lvl4pPr>
            <a:lvl5pPr lvl="4" rtl="0" algn="ctr">
              <a:buNone/>
              <a:defRPr sz="1600"/>
            </a:lvl5pPr>
            <a:lvl6pPr lvl="5" rtl="0" algn="ctr">
              <a:buNone/>
              <a:defRPr sz="1600"/>
            </a:lvl6pPr>
            <a:lvl7pPr lvl="6" rtl="0" algn="ctr">
              <a:buNone/>
              <a:defRPr sz="1600"/>
            </a:lvl7pPr>
            <a:lvl8pPr lvl="7" rtl="0" algn="ctr">
              <a:buNone/>
              <a:defRPr sz="1600"/>
            </a:lvl8pPr>
            <a:lvl9pPr lvl="8" rtl="0" algn="ctr">
              <a:buNone/>
              <a:defRPr sz="1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corpH_3_300_lzw" id="23" name="Google Shape;2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4517850"/>
            <a:ext cx="1157700" cy="57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/>
        </p:nvSpPr>
        <p:spPr>
          <a:xfrm>
            <a:off x="499650" y="46695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COS20031, © Swinburne</a:t>
            </a:r>
            <a:endParaRPr/>
          </a:p>
        </p:txBody>
      </p:sp>
      <p:pic>
        <p:nvPicPr>
          <p:cNvPr descr="crest_100pc bit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0991" y="174796"/>
            <a:ext cx="477522" cy="72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4"/>
          <p:cNvCxnSpPr/>
          <p:nvPr/>
        </p:nvCxnSpPr>
        <p:spPr>
          <a:xfrm>
            <a:off x="419425" y="828925"/>
            <a:ext cx="81459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TITLE_AND_BODY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19425" y="1122300"/>
            <a:ext cx="8141700" cy="262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b="1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sz="1600"/>
            </a:lvl1pPr>
            <a:lvl2pPr lvl="1" rtl="0" algn="ctr">
              <a:buNone/>
              <a:defRPr sz="1600"/>
            </a:lvl2pPr>
            <a:lvl3pPr lvl="2" rtl="0" algn="ctr">
              <a:buNone/>
              <a:defRPr sz="1600"/>
            </a:lvl3pPr>
            <a:lvl4pPr lvl="3" rtl="0" algn="ctr">
              <a:buNone/>
              <a:defRPr sz="1600"/>
            </a:lvl4pPr>
            <a:lvl5pPr lvl="4" rtl="0" algn="ctr">
              <a:buNone/>
              <a:defRPr sz="1600"/>
            </a:lvl5pPr>
            <a:lvl6pPr lvl="5" rtl="0" algn="ctr">
              <a:buNone/>
              <a:defRPr sz="1600"/>
            </a:lvl6pPr>
            <a:lvl7pPr lvl="6" rtl="0" algn="ctr">
              <a:buNone/>
              <a:defRPr sz="1600"/>
            </a:lvl7pPr>
            <a:lvl8pPr lvl="7" rtl="0" algn="ctr">
              <a:buNone/>
              <a:defRPr sz="1600"/>
            </a:lvl8pPr>
            <a:lvl9pPr lvl="8" rtl="0" algn="ctr">
              <a:buNone/>
              <a:defRPr sz="1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corpH_3_300_lzw" id="30" name="Google Shape;3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4517850"/>
            <a:ext cx="1157700" cy="57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/>
        </p:nvSpPr>
        <p:spPr>
          <a:xfrm>
            <a:off x="499650" y="46695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COS20031, © Swinburne</a:t>
            </a:r>
            <a:endParaRPr/>
          </a:p>
        </p:txBody>
      </p:sp>
      <p:pic>
        <p:nvPicPr>
          <p:cNvPr descr="crest_100pc bit" id="32" name="Google Shape;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0991" y="174796"/>
            <a:ext cx="477522" cy="72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" name="Google Shape;33;p5"/>
          <p:cNvCxnSpPr/>
          <p:nvPr/>
        </p:nvCxnSpPr>
        <p:spPr>
          <a:xfrm>
            <a:off x="419425" y="828925"/>
            <a:ext cx="81459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" name="Google Shape;34;p5"/>
          <p:cNvCxnSpPr/>
          <p:nvPr/>
        </p:nvCxnSpPr>
        <p:spPr>
          <a:xfrm>
            <a:off x="499050" y="4059925"/>
            <a:ext cx="81459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" name="Google Shape;54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linkedin.com/learning/data-steward-foundations/entity-relationship-diagrams" TargetMode="External"/><Relationship Id="rId4" Type="http://schemas.openxmlformats.org/officeDocument/2006/relationships/hyperlink" Target="https://www.youtube.com/watch?v=JYZPdU5F2iM" TargetMode="External"/><Relationship Id="rId5" Type="http://schemas.openxmlformats.org/officeDocument/2006/relationships/hyperlink" Target="https://www.linkedin.com/learning/learning-relational-databases-2/maintain-a-consistent-structure" TargetMode="External"/><Relationship Id="rId6" Type="http://schemas.openxmlformats.org/officeDocument/2006/relationships/hyperlink" Target="https://www.youtube.com/watch?v=1Ww4IoMBTks&amp;list=PLX6xdk86h_0xpW82Q0YkdN6xpHa6hvHjO&amp;index=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2160600" y="2340900"/>
            <a:ext cx="6860700" cy="11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2650"/>
              <a:t>COS20031</a:t>
            </a:r>
            <a:endParaRPr b="1" sz="2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50"/>
              <a:t>Computing Technology Design Project</a:t>
            </a:r>
            <a:endParaRPr sz="2650"/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2160600" y="3527100"/>
            <a:ext cx="6021000" cy="9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Week 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Relational Modelling Principles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Development Lifecycle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AutoNum type="arabicPeriod"/>
            </a:pPr>
            <a:r>
              <a:rPr b="1" lang="en-GB" sz="3200">
                <a:solidFill>
                  <a:srgbClr val="0000FF"/>
                </a:solidFill>
              </a:rPr>
              <a:t>Planning</a:t>
            </a:r>
            <a:endParaRPr b="1" sz="3200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Requirement gathering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Conceptual design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AutoNum type="arabicPeriod"/>
            </a:pPr>
            <a:r>
              <a:rPr b="1" lang="en-GB" sz="3200">
                <a:solidFill>
                  <a:srgbClr val="0000FF"/>
                </a:solidFill>
              </a:rPr>
              <a:t>Logical design</a:t>
            </a:r>
            <a:endParaRPr b="1" sz="3200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Physical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Construction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Implementation and rollout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Ongoing support</a:t>
            </a:r>
            <a:endParaRPr/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419425" y="1122300"/>
            <a:ext cx="8141700" cy="262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AutoNum type="alphaUcParenBoth"/>
            </a:pPr>
            <a:r>
              <a:rPr lang="en-GB"/>
              <a:t>Relational Database Basics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71225" y="993775"/>
            <a:ext cx="8724000" cy="37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Definition: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 collection of individual data items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Stored in a highly structured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Represents a model of reality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Data can be stored in a single location or hard drive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Or distributed across large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CRUD tasks: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Create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Update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All performed by a database engine</a:t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371225" y="122175"/>
            <a:ext cx="8724000" cy="87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Database?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6006" l="17832" r="11235" t="0"/>
          <a:stretch/>
        </p:blipFill>
        <p:spPr>
          <a:xfrm>
            <a:off x="5543800" y="1357625"/>
            <a:ext cx="3485199" cy="264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 Database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650" y="756625"/>
            <a:ext cx="7235886" cy="381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Progress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125" y="968476"/>
            <a:ext cx="7540465" cy="357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Management System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Abbreviated by DBMS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Desktop system such as Microsoft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Server-based system such as SQL Server or Oracle</a:t>
            </a:r>
            <a:endParaRPr/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0" r="0" t="23147"/>
          <a:stretch/>
        </p:blipFill>
        <p:spPr>
          <a:xfrm>
            <a:off x="1648613" y="1988903"/>
            <a:ext cx="6169224" cy="28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Relational structures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Columns: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Attributes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Values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Fields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Store a single piece of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Rows: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Records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Made up of a series of values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Every record represents a single identity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4265" y="2455625"/>
            <a:ext cx="3419361" cy="8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4425" y="3576350"/>
            <a:ext cx="6873624" cy="11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rules of Relations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Cells contain single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Columns store a single type of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Column names are unique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Order is significant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Rows are unique</a:t>
            </a:r>
            <a:endParaRPr/>
          </a:p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000" y="1922650"/>
            <a:ext cx="4273975" cy="226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RDBMS Options - System Categories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Server Database Management Systems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Faster and more robust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More simultaneous users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Major server DBMS vendors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Microsoft SQL server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Oracle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DB2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PostgreSQL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MySQL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Desktop </a:t>
            </a:r>
            <a:r>
              <a:rPr lang="en-GB"/>
              <a:t>Database Management Systems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Easy installation and management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Designed for lighter weight applicaitons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Major vendors: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Microsoft access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FileMaker Pro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Base</a:t>
            </a:r>
            <a:endParaRPr/>
          </a:p>
        </p:txBody>
      </p:sp>
      <p:sp>
        <p:nvSpPr>
          <p:cNvPr id="139" name="Google Shape;139;p23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0744" y="1184394"/>
            <a:ext cx="3810750" cy="238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SQL?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Structured Query Language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Used by the DBMS to interact with the database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 new tables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Insert and update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Retrieve information across tables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Interacting with the DBMS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Command-line interface: Requires more upfront understanding of syntax, Easily programmable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Graphical user interface</a:t>
            </a:r>
            <a:endParaRPr/>
          </a:p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choose a DBMS?</a:t>
            </a:r>
            <a:endParaRPr/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the one your company provides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Conduct research into the features and </a:t>
            </a:r>
            <a:r>
              <a:rPr lang="en-GB"/>
              <a:t>benefits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Compare implementation costs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419425" y="1122300"/>
            <a:ext cx="8141700" cy="262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</a:t>
            </a:r>
            <a:r>
              <a:rPr lang="en-GB"/>
              <a:t>B) Preventing Data Anomalies</a:t>
            </a:r>
            <a:endParaRPr/>
          </a:p>
        </p:txBody>
      </p: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Relational Database Advantages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1031600" y="993775"/>
            <a:ext cx="80637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database development life cycle outlines the steps to creating a well-considered solution.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Shortcutting the process can lead to </a:t>
            </a:r>
            <a:r>
              <a:rPr lang="en-GB"/>
              <a:t>undesirable</a:t>
            </a:r>
            <a:r>
              <a:rPr lang="en-GB"/>
              <a:t> results and wasted effort.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Careful consideration can actually protect the database from mistakes and discrepancies.</a:t>
            </a:r>
            <a:endParaRPr/>
          </a:p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8" name="Google Shape;168;p27"/>
          <p:cNvPicPr preferRelativeResize="0"/>
          <p:nvPr/>
        </p:nvPicPr>
        <p:blipFill rotWithShape="1">
          <a:blip r:embed="rId3">
            <a:alphaModFix/>
          </a:blip>
          <a:srcRect b="16768" l="0" r="82671" t="22936"/>
          <a:stretch/>
        </p:blipFill>
        <p:spPr>
          <a:xfrm>
            <a:off x="642450" y="942300"/>
            <a:ext cx="860125" cy="7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 rotWithShape="1">
          <a:blip r:embed="rId4">
            <a:alphaModFix/>
          </a:blip>
          <a:srcRect b="18142" l="0" r="83162" t="21561"/>
          <a:stretch/>
        </p:blipFill>
        <p:spPr>
          <a:xfrm>
            <a:off x="642449" y="1830850"/>
            <a:ext cx="860128" cy="8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600" y="2752351"/>
            <a:ext cx="712725" cy="70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Removing Duplicate Information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Slow performance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Maintenance issues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Inconsistencies and anomalies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Remove the dependent column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Copy the subject column</a:t>
            </a:r>
            <a:endParaRPr/>
          </a:p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3875" y="1512588"/>
            <a:ext cx="4937174" cy="253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</a:t>
            </a:r>
            <a:r>
              <a:rPr lang="en-GB"/>
              <a:t>liminate I</a:t>
            </a:r>
            <a:r>
              <a:rPr lang="en-GB"/>
              <a:t>nconsistent Data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484500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Problems: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Typographic errors, spelling mistakes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Different entry style</a:t>
            </a:r>
            <a:r>
              <a:rPr lang="en-GB"/>
              <a:t>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Make a copy of the redundant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Place it into a new table with a clear name</a:t>
            </a:r>
            <a:endParaRPr/>
          </a:p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6271" y="886971"/>
            <a:ext cx="3438949" cy="12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5520" y="2386588"/>
            <a:ext cx="3008274" cy="78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1427" y="2788001"/>
            <a:ext cx="3008276" cy="222521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9"/>
          <p:cNvSpPr/>
          <p:nvPr/>
        </p:nvSpPr>
        <p:spPr>
          <a:xfrm>
            <a:off x="7373850" y="1958650"/>
            <a:ext cx="123600" cy="393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9"/>
          <p:cNvSpPr/>
          <p:nvPr/>
        </p:nvSpPr>
        <p:spPr>
          <a:xfrm>
            <a:off x="6350250" y="3873250"/>
            <a:ext cx="1071000" cy="2985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9"/>
          <p:cNvSpPr/>
          <p:nvPr/>
        </p:nvSpPr>
        <p:spPr>
          <a:xfrm>
            <a:off x="7313950" y="3210400"/>
            <a:ext cx="255600" cy="704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3500" y="4464625"/>
            <a:ext cx="1912025" cy="523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Break Data Down into its components</a:t>
            </a:r>
            <a:endParaRPr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628650" y="1086450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to ensure that database remains flexible?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Making fields as descriptive, and specific, as possible.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The fields also become quite short and to the point.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Breaking Up Name Fields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0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0" name="Google Shape;2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5" y="2421925"/>
            <a:ext cx="3737950" cy="127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4625" y="2190130"/>
            <a:ext cx="4639375" cy="163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/>
          <p:nvPr/>
        </p:nvSpPr>
        <p:spPr>
          <a:xfrm>
            <a:off x="3696800" y="3235525"/>
            <a:ext cx="807900" cy="23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Prevent Data Conflicts</a:t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When?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Stored values are simply calculated from other information that we’re storing or keeping track of.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One value changes → ensure update the calculation as well.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If Price Each changes → 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If Quantity changes → ?</a:t>
            </a:r>
            <a:endParaRPr/>
          </a:p>
        </p:txBody>
      </p:sp>
      <p:sp>
        <p:nvSpPr>
          <p:cNvPr id="209" name="Google Shape;209;p31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0" name="Google Shape;2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7076" y="2341850"/>
            <a:ext cx="5661000" cy="203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Require Complete Information</a:t>
            </a:r>
            <a:endParaRPr/>
          </a:p>
        </p:txBody>
      </p:sp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WHEN?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While performing some data entry task and there’s some piece of information that you don’t know.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You think to yourself, "I'll put in the parts that I know now, "and I'll come back and fill in the rest later." Only you get busy and you move onto other tasks, and completely forget to fill in the blanks.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Unfortunately this happens all too often to a lot of people.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We've already seen that incorrect or mistyped data is problematic for a database.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HOW?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Determine Required Fields</a:t>
            </a:r>
            <a:endParaRPr/>
          </a:p>
        </p:txBody>
      </p:sp>
      <p:sp>
        <p:nvSpPr>
          <p:cNvPr id="217" name="Google Shape;217;p32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8" name="Google Shape;21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325" y="3792818"/>
            <a:ext cx="3728175" cy="77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7600" y="3363243"/>
            <a:ext cx="2900925" cy="115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2"/>
          <p:cNvSpPr/>
          <p:nvPr/>
        </p:nvSpPr>
        <p:spPr>
          <a:xfrm>
            <a:off x="4233175" y="4100500"/>
            <a:ext cx="824400" cy="19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 a </a:t>
            </a:r>
            <a:r>
              <a:rPr lang="en-GB"/>
              <a:t>consistent</a:t>
            </a:r>
            <a:r>
              <a:rPr lang="en-GB"/>
              <a:t> structure</a:t>
            </a:r>
            <a:endParaRPr/>
          </a:p>
        </p:txBody>
      </p:sp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371225" y="993775"/>
            <a:ext cx="53784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Problems?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Multiple pieces of information of the same type in a single field.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Open/Closed Principles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Tables should be open for </a:t>
            </a:r>
            <a:r>
              <a:rPr lang="en-GB"/>
              <a:t>extension</a:t>
            </a:r>
            <a:r>
              <a:rPr lang="en-GB"/>
              <a:t> and closed for modification.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Resolving Multivalue Fields</a:t>
            </a:r>
            <a:endParaRPr/>
          </a:p>
        </p:txBody>
      </p:sp>
      <p:sp>
        <p:nvSpPr>
          <p:cNvPr id="227" name="Google Shape;227;p33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8" name="Google Shape;2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69" y="2736394"/>
            <a:ext cx="3494300" cy="108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4694" y="3967694"/>
            <a:ext cx="3394500" cy="99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0345" y="1060620"/>
            <a:ext cx="3294875" cy="26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3"/>
          <p:cNvSpPr/>
          <p:nvPr/>
        </p:nvSpPr>
        <p:spPr>
          <a:xfrm rot="2700000">
            <a:off x="3574125" y="3492894"/>
            <a:ext cx="741189" cy="39371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3"/>
          <p:cNvSpPr/>
          <p:nvPr/>
        </p:nvSpPr>
        <p:spPr>
          <a:xfrm rot="-1870669">
            <a:off x="5098165" y="3564930"/>
            <a:ext cx="702343" cy="31914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ERD overview</a:t>
            </a:r>
            <a:endParaRPr/>
          </a:p>
        </p:txBody>
      </p:sp>
      <p:sp>
        <p:nvSpPr>
          <p:cNvPr id="238" name="Google Shape;238;p34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Entity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Entity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Attribute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Relationship</a:t>
            </a:r>
            <a:endParaRPr/>
          </a:p>
        </p:txBody>
      </p:sp>
      <p:sp>
        <p:nvSpPr>
          <p:cNvPr id="239" name="Google Shape;239;p34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0" name="Google Shape;24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4175" y="993775"/>
            <a:ext cx="6730450" cy="323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Tutorial &amp; Workshop</a:t>
            </a:r>
            <a:endParaRPr/>
          </a:p>
        </p:txBody>
      </p:sp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See Canvas.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ERD basics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4"/>
              </a:rPr>
              <a:t>How to use diagrams.net to draw ERD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5"/>
              </a:rPr>
              <a:t>Example ERD</a:t>
            </a:r>
            <a:r>
              <a:rPr lang="en-GB"/>
              <a:t> (maintain a consistent structure)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6"/>
              </a:rPr>
              <a:t>Integrate diagrams.net with Confluence</a:t>
            </a:r>
            <a:endParaRPr/>
          </a:p>
        </p:txBody>
      </p:sp>
      <p:sp>
        <p:nvSpPr>
          <p:cNvPr id="247" name="Google Shape;247;p35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