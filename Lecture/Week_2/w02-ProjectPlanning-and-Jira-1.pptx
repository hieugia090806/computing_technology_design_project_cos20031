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64be682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64be682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3c977ac13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43c977ac13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3c977ac1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3c977ac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3c977ac1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43c977ac1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43c977ac13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43c977ac13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3c977ac1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43c977ac1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3c977ac1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43c977ac1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43c977ac1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43c977ac1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3c977ac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43c977ac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43c977ac1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43c977ac1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43c977ac13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43c977ac1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43c977ac1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43c977ac1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43c977ac13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43c977ac13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43c977ac1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43c977ac1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43c977ac1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43c977ac1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43c977ac13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43c977ac13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3c977ac13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43c977ac13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43c977ac13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43c977ac1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43c977ac13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43c977ac13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43c977ac1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43c977ac1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43c977ac1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43c977ac1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43c977ac13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43c977ac13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43c977ac1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43c977ac1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43c977ac13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43c977ac13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43c977ac13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43c977ac13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43c977ac1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43c977ac1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160600" y="2340900"/>
            <a:ext cx="6860700" cy="11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160600" y="3663675"/>
            <a:ext cx="66717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159000" y="0"/>
            <a:ext cx="2159100" cy="21591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rpV_3 300_lzw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160589" cy="4319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st_100pc bit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3825" y="3681126"/>
            <a:ext cx="910650" cy="13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2800"/>
              <a:buNone/>
              <a:defRPr b="1">
                <a:solidFill>
                  <a:srgbClr val="4A86E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sz="1600"/>
            </a:lvl1pPr>
            <a:lvl2pPr lvl="1" rtl="0" algn="ctr">
              <a:buNone/>
              <a:defRPr sz="1600"/>
            </a:lvl2pPr>
            <a:lvl3pPr lvl="2" rtl="0" algn="ctr">
              <a:buNone/>
              <a:defRPr sz="1600"/>
            </a:lvl3pPr>
            <a:lvl4pPr lvl="3" rtl="0" algn="ctr">
              <a:buNone/>
              <a:defRPr sz="1600"/>
            </a:lvl4pPr>
            <a:lvl5pPr lvl="4" rtl="0" algn="ctr">
              <a:buNone/>
              <a:defRPr sz="1600"/>
            </a:lvl5pPr>
            <a:lvl6pPr lvl="5" rtl="0" algn="ctr">
              <a:buNone/>
              <a:defRPr sz="1600"/>
            </a:lvl6pPr>
            <a:lvl7pPr lvl="6" rtl="0" algn="ctr">
              <a:buNone/>
              <a:defRPr sz="1600"/>
            </a:lvl7pPr>
            <a:lvl8pPr lvl="7" rtl="0" algn="ctr">
              <a:buNone/>
              <a:defRPr sz="1600"/>
            </a:lvl8pPr>
            <a:lvl9pPr lvl="8" rtl="0" algn="ctr">
              <a:buNone/>
              <a:defRPr sz="1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corpH_3_300_lzw"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4517850"/>
            <a:ext cx="1157700" cy="57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/>
        </p:nvSpPr>
        <p:spPr>
          <a:xfrm>
            <a:off x="499650" y="46695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COS20031, © Swinburne</a:t>
            </a:r>
            <a:endParaRPr/>
          </a:p>
        </p:txBody>
      </p:sp>
      <p:pic>
        <p:nvPicPr>
          <p:cNvPr descr="crest_100pc bit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0991" y="174796"/>
            <a:ext cx="477522" cy="72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4"/>
          <p:cNvCxnSpPr/>
          <p:nvPr/>
        </p:nvCxnSpPr>
        <p:spPr>
          <a:xfrm>
            <a:off x="419425" y="828925"/>
            <a:ext cx="81459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TITLE_AND_BODY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19425" y="1122300"/>
            <a:ext cx="8141700" cy="262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b="1">
                <a:solidFill>
                  <a:srgbClr val="FF99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 sz="1600"/>
            </a:lvl1pPr>
            <a:lvl2pPr lvl="1" rtl="0" algn="ctr">
              <a:buNone/>
              <a:defRPr sz="1600"/>
            </a:lvl2pPr>
            <a:lvl3pPr lvl="2" rtl="0" algn="ctr">
              <a:buNone/>
              <a:defRPr sz="1600"/>
            </a:lvl3pPr>
            <a:lvl4pPr lvl="3" rtl="0" algn="ctr">
              <a:buNone/>
              <a:defRPr sz="1600"/>
            </a:lvl4pPr>
            <a:lvl5pPr lvl="4" rtl="0" algn="ctr">
              <a:buNone/>
              <a:defRPr sz="1600"/>
            </a:lvl5pPr>
            <a:lvl6pPr lvl="5" rtl="0" algn="ctr">
              <a:buNone/>
              <a:defRPr sz="1600"/>
            </a:lvl6pPr>
            <a:lvl7pPr lvl="6" rtl="0" algn="ctr">
              <a:buNone/>
              <a:defRPr sz="1600"/>
            </a:lvl7pPr>
            <a:lvl8pPr lvl="7" rtl="0" algn="ctr">
              <a:buNone/>
              <a:defRPr sz="1600"/>
            </a:lvl8pPr>
            <a:lvl9pPr lvl="8" rtl="0" algn="ctr">
              <a:buNone/>
              <a:defRPr sz="1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corpH_3_300_lzw" id="30" name="Google Shape;3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37500" y="4517850"/>
            <a:ext cx="1157700" cy="579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/>
        </p:nvSpPr>
        <p:spPr>
          <a:xfrm>
            <a:off x="499650" y="46695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COS20031, © Swinburne</a:t>
            </a:r>
            <a:endParaRPr/>
          </a:p>
        </p:txBody>
      </p:sp>
      <p:pic>
        <p:nvPicPr>
          <p:cNvPr descr="crest_100pc bit" id="32" name="Google Shape;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0991" y="174796"/>
            <a:ext cx="477522" cy="72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5"/>
          <p:cNvCxnSpPr/>
          <p:nvPr/>
        </p:nvCxnSpPr>
        <p:spPr>
          <a:xfrm>
            <a:off x="419425" y="828925"/>
            <a:ext cx="81459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" name="Google Shape;34;p5"/>
          <p:cNvCxnSpPr/>
          <p:nvPr/>
        </p:nvCxnSpPr>
        <p:spPr>
          <a:xfrm>
            <a:off x="499050" y="4059925"/>
            <a:ext cx="81459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atlassian.com/agile/scrum" TargetMode="External"/><Relationship Id="rId4" Type="http://schemas.openxmlformats.org/officeDocument/2006/relationships/hyperlink" Target="https://www.atlassian.com/agile/scrum/backlogs" TargetMode="External"/><Relationship Id="rId5" Type="http://schemas.openxmlformats.org/officeDocument/2006/relationships/hyperlink" Target="https://www.atlassian.com/agile/project-management/user-stories" TargetMode="External"/><Relationship Id="rId6" Type="http://schemas.openxmlformats.org/officeDocument/2006/relationships/hyperlink" Target="https://www.atlassian.com/agile/project-management/epic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atlassian.com/agile/project-management/epics-stories-themes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atlassian.com/agile/tutorials/sprint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ptimizory.atlassian.net/wiki/spaces/KB/pages/503644162/Generating+sample+data+in+Jira+Cloud" TargetMode="External"/><Relationship Id="rId4" Type="http://schemas.openxmlformats.org/officeDocument/2006/relationships/hyperlink" Target="https://www.atlassian.com/software/confluence/resources/guides/extend-functionality/confluence-jira#integrate-confluence-jira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2160600" y="2340900"/>
            <a:ext cx="6860700" cy="11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650"/>
              <a:t>COS20031</a:t>
            </a:r>
            <a:endParaRPr b="1"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50"/>
              <a:t>Computing Technology Design Project</a:t>
            </a:r>
            <a:endParaRPr sz="2650"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2160600" y="3527100"/>
            <a:ext cx="6021000" cy="9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Week 02</a:t>
            </a:r>
            <a:r>
              <a:rPr lang="en-GB"/>
              <a:t> - Project Planning and Task Management with Jira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Development Lifecycle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AutoNum type="arabicPeriod"/>
            </a:pPr>
            <a:r>
              <a:rPr b="1" lang="en-GB" sz="3200">
                <a:solidFill>
                  <a:srgbClr val="0000FF"/>
                </a:solidFill>
              </a:rPr>
              <a:t>Planning</a:t>
            </a:r>
            <a:endParaRPr b="1" sz="3200"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Requirement gathering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Conceptual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Logical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Physical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Construction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Implementation and rollout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Ongoing support</a:t>
            </a:r>
            <a:endParaRPr/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19425" y="1122300"/>
            <a:ext cx="8141700" cy="262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AutoNum type="alphaUcParenBoth"/>
            </a:pPr>
            <a:r>
              <a:rPr lang="en-GB"/>
              <a:t>Project Planning</a:t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71225" y="122175"/>
            <a:ext cx="8724000" cy="87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Traditional vs. Agile Project Management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71225" y="993775"/>
            <a:ext cx="8724000" cy="37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Traditional (waterfall)</a:t>
            </a:r>
            <a:r>
              <a:rPr lang="en-GB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works well when goals are clearly defined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complete one step then move to the next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Suitable</a:t>
            </a:r>
            <a:r>
              <a:rPr lang="en-GB"/>
              <a:t> projects: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clear 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simplicity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low risk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familiar technology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experienced resources</a:t>
            </a:r>
            <a:endParaRPr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5051" y="3476849"/>
            <a:ext cx="5142826" cy="1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6100" y="1041400"/>
            <a:ext cx="960825" cy="9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71225" y="122175"/>
            <a:ext cx="8724000" cy="87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Traditional vs. Agile Project Management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Agile approach: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iterations produce deliverables at regular intervals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value delivered sooner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more customer involvement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small independent teams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Suitable projects: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unclear solution </a:t>
            </a:r>
            <a:br>
              <a:rPr lang="en-GB"/>
            </a:br>
            <a:r>
              <a:rPr lang="en-GB"/>
              <a:t>(most today’s projects!)</a:t>
            </a:r>
            <a:endParaRPr/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125" y="1085850"/>
            <a:ext cx="1290000" cy="12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593" y="2611968"/>
            <a:ext cx="2626725" cy="178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1750" y="2571750"/>
            <a:ext cx="2628496" cy="178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PM process (basic)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Choose an PM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stakeholders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project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project objectives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Identify project deliverables and success criteria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Prepare project scope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risk management plan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Create a risk chart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Learn to use milestones</a:t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Stakeholders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71225" y="993775"/>
            <a:ext cx="8724000" cy="3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Customer</a:t>
            </a:r>
            <a:endParaRPr b="1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person or group with a problem to solve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funds the project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informs what needs to be done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approves deliverables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Project </a:t>
            </a:r>
            <a:r>
              <a:rPr b="1" lang="en-GB"/>
              <a:t>sponsor</a:t>
            </a:r>
            <a:endParaRPr b="1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wants project to succeed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prioritise objectives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talk to stakeholders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suggest improvements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Functional </a:t>
            </a:r>
            <a:r>
              <a:rPr b="1" lang="en-GB"/>
              <a:t>managers</a:t>
            </a:r>
            <a:r>
              <a:rPr lang="en-GB"/>
              <a:t>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run departments to achieve department goals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manage team members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Team</a:t>
            </a:r>
            <a:r>
              <a:rPr lang="en-GB"/>
              <a:t> members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jobs depend on performance in the projects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Department</a:t>
            </a:r>
            <a:r>
              <a:rPr lang="en-GB"/>
              <a:t>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invested and affected by project outcomes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Project Goal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Defines the </a:t>
            </a:r>
            <a:r>
              <a:rPr b="1" lang="en-GB"/>
              <a:t>end result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Solves the problem, 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Takes advantage of opportunity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Problem statement</a:t>
            </a:r>
            <a:r>
              <a:rPr lang="en-GB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clearly defines the problem or opportunity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E.g. (hospital schedule system - HSS)</a:t>
            </a:r>
            <a:br>
              <a:rPr lang="en-GB"/>
            </a:br>
            <a:r>
              <a:rPr lang="en-GB"/>
              <a:t>“Hospital resources aren’t being utilised efficiently, because scheduling doesn’t ensure that the necessary equipment, staff and facilities are available. Fund is available to address scheduling issues.”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Project goal</a:t>
            </a:r>
            <a:r>
              <a:rPr lang="en-GB"/>
              <a:t>: e</a:t>
            </a:r>
            <a:r>
              <a:rPr lang="en-GB"/>
              <a:t>.g. (hospital schedule system - HSS):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“The project </a:t>
            </a:r>
            <a:r>
              <a:rPr b="1" lang="en-GB"/>
              <a:t>will deliver</a:t>
            </a:r>
            <a:r>
              <a:rPr lang="en-GB"/>
              <a:t> scheduling improvements </a:t>
            </a:r>
            <a:r>
              <a:rPr b="1" lang="en-GB"/>
              <a:t>so</a:t>
            </a:r>
            <a:r>
              <a:rPr lang="en-GB"/>
              <a:t> hospital resources can be scheduled efficiently. The project will take advantage of funding available for productivity and technology enhancements”</a:t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the Project Objectives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Objectives specify what needs to achieve to support organisational goal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Business</a:t>
            </a:r>
            <a:r>
              <a:rPr lang="en-GB"/>
              <a:t> objectives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increase market share to 25%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provide world-class health care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Financial</a:t>
            </a:r>
            <a:r>
              <a:rPr lang="en-GB"/>
              <a:t> objectives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increase revenue by 15%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cut costs by 10%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Quality</a:t>
            </a:r>
            <a:r>
              <a:rPr lang="en-GB"/>
              <a:t> objectives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decrease staph infections by 80%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decrease readmittance by 75%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Technical</a:t>
            </a:r>
            <a:r>
              <a:rPr lang="en-GB"/>
              <a:t> objectives: similar to technical specifications for equipment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introduce mobile equipment for hospital, ambulance and emergency site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Performance</a:t>
            </a:r>
            <a:r>
              <a:rPr lang="en-GB"/>
              <a:t> objectives: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finish project before grant expires</a:t>
            </a:r>
            <a:endParaRPr/>
          </a:p>
        </p:txBody>
      </p:sp>
      <p:sp>
        <p:nvSpPr>
          <p:cNvPr id="130" name="Google Shape;130;p22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6070025" y="1517950"/>
            <a:ext cx="2371800" cy="1569900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7150" rotWithShape="0" algn="bl" dir="2580000" dist="14287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>
                <a:highlight>
                  <a:srgbClr val="FFFF00"/>
                </a:highlight>
              </a:rPr>
              <a:t>S</a:t>
            </a:r>
            <a:r>
              <a:rPr lang="en-GB" sz="1800"/>
              <a:t>pecific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>
                <a:highlight>
                  <a:srgbClr val="FFFF00"/>
                </a:highlight>
              </a:rPr>
              <a:t>M</a:t>
            </a:r>
            <a:r>
              <a:rPr lang="en-GB" sz="1800"/>
              <a:t>easurable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>
                <a:highlight>
                  <a:srgbClr val="FFFF00"/>
                </a:highlight>
              </a:rPr>
              <a:t>A</a:t>
            </a:r>
            <a:r>
              <a:rPr lang="en-GB" sz="1800"/>
              <a:t>chievable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>
                <a:highlight>
                  <a:srgbClr val="FFFF00"/>
                </a:highlight>
              </a:rPr>
              <a:t>R</a:t>
            </a:r>
            <a:r>
              <a:rPr lang="en-GB" sz="1800"/>
              <a:t>ealistic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sz="1800">
                <a:highlight>
                  <a:srgbClr val="FFFF00"/>
                </a:highlight>
              </a:rPr>
              <a:t>T</a:t>
            </a:r>
            <a:r>
              <a:rPr lang="en-GB" sz="1800"/>
              <a:t>ime-related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Project Deliverables &amp; Success Criteria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Deliverables: expected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help define project scope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help measure progress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tangible: e.g. new product, service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intangible (abstract) deliverables: e.g. improved customer relationship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Identify deliverables: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identify end deliverable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e.g. a new product/service launched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identify intermediate deliverables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achievable between status reports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e.g. sign a contract with a vendor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Identify clear, quantifiable success criteria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signed contracts, certificate of occupancy, 4/5 survey rating</a:t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025" y="2924175"/>
            <a:ext cx="4125200" cy="72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Prepare a Project Scope Statement</a:t>
            </a:r>
            <a:endParaRPr/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Defines the boundary of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specifies what is included (in) and what is excluded (out)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Benefits: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help avoid scope creep (unexpected deliverables)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remind stakeholders of what was agreed upon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track for change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Scope statement: defines the scope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documents all the elements defined so far (goal, objectives, deliverables, success criteria, assumptions, risks, constraints)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boundary: what is within scope, out of scope</a:t>
            </a:r>
            <a:endParaRPr/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Scope example: HSS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850" y="1100449"/>
            <a:ext cx="4501849" cy="28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450" y="1100450"/>
            <a:ext cx="4063376" cy="13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 Risk Management Plan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Document the </a:t>
            </a:r>
            <a:r>
              <a:rPr b="1" lang="en-GB"/>
              <a:t>relevant risks</a:t>
            </a:r>
            <a:r>
              <a:rPr lang="en-GB"/>
              <a:t> and how we plan to </a:t>
            </a:r>
            <a:r>
              <a:rPr b="1" lang="en-GB"/>
              <a:t>handle</a:t>
            </a:r>
            <a:r>
              <a:rPr lang="en-GB"/>
              <a:t> them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Evaluate</a:t>
            </a:r>
            <a:r>
              <a:rPr lang="en-GB"/>
              <a:t> risks: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probability or likelihood (1-5)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severity of impact (1-5)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risk score = probability x impact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Rank risks in descending order of score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unlikely and not serious: 1 x 1 = 1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GB"/>
              <a:t>medium</a:t>
            </a:r>
            <a:r>
              <a:rPr lang="en-GB"/>
              <a:t> likely and serious: 3 x 3 = 9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very likely an serious: 5 x 5 = 25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Plan</a:t>
            </a:r>
            <a:r>
              <a:rPr lang="en-GB"/>
              <a:t> for risks that are </a:t>
            </a:r>
            <a:r>
              <a:rPr b="1" lang="en-GB"/>
              <a:t>medium or higher (i.e. score &gt;= 9)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response action to handle when a risk occurs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Response </a:t>
            </a:r>
            <a:r>
              <a:rPr b="1" lang="en-GB"/>
              <a:t>actions</a:t>
            </a:r>
            <a:r>
              <a:rPr lang="en-GB"/>
              <a:t>: should reflect the risk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accept: for low risks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avoid: e.g. change project scope to avoid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mitigate: reduce impact (e.g. performs feasibility study)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transfer: to someone else (e.g. insurance)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GB"/>
              <a:t>Risk log</a:t>
            </a:r>
            <a:r>
              <a:rPr lang="en-GB"/>
              <a:t>: document risk evaluation, response and status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update regularly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/>
              <a:t>risk scores may change over time</a:t>
            </a:r>
            <a:endParaRPr/>
          </a:p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 log example: HSS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993775"/>
            <a:ext cx="9022049" cy="3289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to Create a Risk Chart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Identify risks: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from previous projects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team brainstorming meeting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Plan for risks with score &gt;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prevention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protection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Revise risk score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aim score &lt;= 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Benefits: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informs stakeholders upfront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helps reduce risk</a:t>
            </a:r>
            <a:endParaRPr/>
          </a:p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150" y="1348587"/>
            <a:ext cx="4938076" cy="28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 to Use Milestones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71225" y="993775"/>
            <a:ext cx="5424300" cy="34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Milestone: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shows project progress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when key tasks have been completed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how much has been completed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when project is finished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Helps easily reschedule the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all tasks </a:t>
            </a:r>
            <a:r>
              <a:rPr i="1" lang="en-GB"/>
              <a:t>dependent on</a:t>
            </a:r>
            <a:r>
              <a:rPr lang="en-GB"/>
              <a:t> the milestone are rescheduled automatically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Starts and ends project with a milestone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Mark key progress points with a milestone: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key events, e.g: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wait for vendor delivery of equipment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plan approved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Link tasks to milestones (before and after)</a:t>
            </a:r>
            <a:endParaRPr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1320" y="1057075"/>
            <a:ext cx="3126450" cy="24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419425" y="1122300"/>
            <a:ext cx="8141700" cy="262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(B) Task management with Jira</a:t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Terms: basic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u="sng">
                <a:solidFill>
                  <a:schemeClr val="hlink"/>
                </a:solidFill>
                <a:hlinkClick r:id="rId3"/>
              </a:rPr>
              <a:t>Scrum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most popular frameworks for implementing agile: product is built in a series of small fixed-length iterations, called sprints, that can regularly </a:t>
            </a:r>
            <a:r>
              <a:rPr lang="en-GB"/>
              <a:t>be </a:t>
            </a:r>
            <a:r>
              <a:rPr lang="en-GB"/>
              <a:t>delivered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u="sng">
                <a:solidFill>
                  <a:schemeClr val="hlink"/>
                </a:solidFill>
                <a:hlinkClick r:id="rId4"/>
              </a:rPr>
              <a:t>Backlog</a:t>
            </a:r>
            <a:r>
              <a:rPr lang="en-GB"/>
              <a:t>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prioritised list of ongoing tasks to complete, derived from requirements/roadmap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User </a:t>
            </a:r>
            <a:r>
              <a:rPr b="1" lang="en-GB" u="sng">
                <a:solidFill>
                  <a:schemeClr val="hlink"/>
                </a:solidFill>
                <a:hlinkClick r:id="rId5"/>
              </a:rPr>
              <a:t>stories</a:t>
            </a:r>
            <a:r>
              <a:rPr lang="en-GB"/>
              <a:t>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tasks or other work items =&gt; software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a.k.a </a:t>
            </a:r>
            <a:r>
              <a:rPr i="1" lang="en-GB"/>
              <a:t>issues</a:t>
            </a:r>
            <a:r>
              <a:rPr lang="en-GB"/>
              <a:t> in Jira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As a {type of user}, I want {goal} so that I {receive benefit}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 u="sng">
                <a:solidFill>
                  <a:schemeClr val="hlink"/>
                </a:solidFill>
                <a:hlinkClick r:id="rId6"/>
              </a:rPr>
              <a:t>Epic</a:t>
            </a:r>
            <a:r>
              <a:rPr lang="en-GB"/>
              <a:t>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body of work that can be broken down into user stories, having </a:t>
            </a:r>
            <a:r>
              <a:rPr i="1" lang="en-GB"/>
              <a:t>flexible scope</a:t>
            </a:r>
            <a:r>
              <a:rPr lang="en-GB"/>
              <a:t> based on the needs/requests of customers/end-users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usually consists of a set of sprints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can involve multiple teams and span multiple projects</a:t>
            </a:r>
            <a:endParaRPr/>
          </a:p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</a:t>
            </a:r>
            <a:r>
              <a:rPr lang="en-GB"/>
              <a:t> set of user stories or other work items to be completed during a fixed time duration: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1, 2 or 4 weeks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Planning: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 meeting held at beginning of a sprint for entire team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duration: 2-hour for a 2-week sprint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discuss sprint goal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determine sprint backlog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refine stories (by creating substories)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estimate time for each story using story point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story point: relative work effort (fibonacci-like): 0, 0.5, 1, 2, 3, 5, 8, 13, 20, 40, 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Start a sprint: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start, end 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Monitor sprint progress: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move items between to-do, in-progress and done columns</a:t>
            </a:r>
            <a:endParaRPr/>
          </a:p>
        </p:txBody>
      </p:sp>
      <p:sp>
        <p:nvSpPr>
          <p:cNvPr id="205" name="Google Shape;205;p32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</a:t>
            </a:r>
            <a:r>
              <a:rPr lang="en-GB"/>
              <a:t>: Sprint (1)</a:t>
            </a:r>
            <a:endParaRPr/>
          </a:p>
        </p:txBody>
      </p:sp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Terms: Sprint (2)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71225" y="993775"/>
            <a:ext cx="8724000" cy="37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Standup meetings: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one daily, starting meeting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duration: &lt;= 15 minutes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usually informal (standup)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to update and check progress, resolve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questions for each member: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what did I do?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what will I work on today?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am i blocked by anything?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View the Sprint report: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shows actual &amp; estimated work effort left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Reports &gt; Burndown Chart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x-axis: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y-axis: story points (effort)</a:t>
            </a:r>
            <a:endParaRPr/>
          </a:p>
        </p:txBody>
      </p:sp>
      <p:sp>
        <p:nvSpPr>
          <p:cNvPr id="213" name="Google Shape;213;p33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2675" y="2509125"/>
            <a:ext cx="4315201" cy="192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Terms: Sprint (3)</a:t>
            </a:r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Review</a:t>
            </a:r>
            <a:r>
              <a:rPr lang="en-GB"/>
              <a:t> meeting: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sprint review a.k.a sprint demo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typically on the last day of a sprint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duration: 2 hours for 2-week sprint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demonstrate what was completed in the sprint (a prototype or product increment) &amp; update the product backlog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Questions to ask: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Did the team meet the sprint goal?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Any work added or removed during the sprint?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Did any work not get completed? If so, why?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Brainstorming on what’s next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move unfinished stories to product backlog or a future sprint</a:t>
            </a:r>
            <a:endParaRPr/>
          </a:p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Terms: Sprint (4)</a:t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71225" y="993775"/>
            <a:ext cx="8724000" cy="32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Retrospective</a:t>
            </a:r>
            <a:r>
              <a:rPr lang="en-GB"/>
              <a:t> meeting: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end of iteration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duration: 1.5 hours for 2-week sprint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team inspects itself for continuous improvement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Questions to ask: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What did we do well during the sprint?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What could we have done better?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What are we going to do better for next time?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Complete the sprint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Click the “Complete sprint” button to close it</a:t>
            </a:r>
            <a:endParaRPr/>
          </a:p>
        </p:txBody>
      </p:sp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71225" y="765175"/>
            <a:ext cx="8724000" cy="27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 body of work that can be broken down into user stories, having flexible scope based on the needs/requests of customers/end-users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usually consists of a set of sprints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can involve multiple teams and span multiple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Example: “March 2050 Space Tourism Launch”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various stories: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routine stories + stories for improving shuttle launch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e.g. space travel ticket purchase, rocket launch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multiple teams</a:t>
            </a:r>
            <a:endParaRPr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626" y="3536975"/>
            <a:ext cx="3994151" cy="111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Terms: Epic</a:t>
            </a:r>
            <a:endParaRPr/>
          </a:p>
        </p:txBody>
      </p:sp>
      <p:sp>
        <p:nvSpPr>
          <p:cNvPr id="236" name="Google Shape;236;p36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7" name="Google Shape;2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7326" y="3536975"/>
            <a:ext cx="4185048" cy="11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idx="1" type="body"/>
          </p:nvPr>
        </p:nvSpPr>
        <p:spPr>
          <a:xfrm>
            <a:off x="271550" y="968475"/>
            <a:ext cx="4200900" cy="27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GB"/>
              <a:t>Product </a:t>
            </a:r>
            <a:r>
              <a:rPr b="1" lang="en-GB"/>
              <a:t>road map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Theme</a:t>
            </a:r>
            <a:r>
              <a:rPr lang="en-GB"/>
              <a:t>: an organisational goal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-GB"/>
              <a:t>Initiative</a:t>
            </a:r>
            <a:r>
              <a:rPr lang="en-GB"/>
              <a:t>: a component of goal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/>
              <a:t>Epic</a:t>
            </a:r>
            <a:r>
              <a:rPr lang="en-GB"/>
              <a:t>: </a:t>
            </a:r>
            <a:endParaRPr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Story</a:t>
            </a:r>
            <a:endParaRPr b="1"/>
          </a:p>
        </p:txBody>
      </p:sp>
      <p:sp>
        <p:nvSpPr>
          <p:cNvPr id="243" name="Google Shape;243;p37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Terms: Theme, Initiative, Epic, Story (</a:t>
            </a:r>
            <a:r>
              <a:rPr lang="en-GB" u="sng">
                <a:solidFill>
                  <a:schemeClr val="hlink"/>
                </a:solidFill>
                <a:hlinkClick r:id="rId3"/>
              </a:rPr>
              <a:t>url</a:t>
            </a:r>
            <a:r>
              <a:rPr lang="en-GB"/>
              <a:t>)</a:t>
            </a:r>
            <a:endParaRPr/>
          </a:p>
        </p:txBody>
      </p:sp>
      <p:sp>
        <p:nvSpPr>
          <p:cNvPr id="244" name="Google Shape;244;p37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5" name="Google Shape;24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968475"/>
            <a:ext cx="4494550" cy="26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550" y="2432903"/>
            <a:ext cx="4494549" cy="2337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Additional </a:t>
            </a:r>
            <a:r>
              <a:rPr lang="en-GB"/>
              <a:t>Sprint management with Jira</a:t>
            </a:r>
            <a:endParaRPr/>
          </a:p>
        </p:txBody>
      </p:sp>
      <p:sp>
        <p:nvSpPr>
          <p:cNvPr id="252" name="Google Shape;252;p38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URL: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https://www.atlassian.com/agile/tutorials/sprints</a:t>
            </a:r>
            <a:r>
              <a:rPr lang="en-GB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Optimise sprint with automation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send weekly Slack message on open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assign unfinished stories to the next sprint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move in-progress stories of an empty sprint to the next active sprint</a:t>
            </a:r>
            <a:endParaRPr/>
          </a:p>
        </p:txBody>
      </p:sp>
      <p:sp>
        <p:nvSpPr>
          <p:cNvPr id="253" name="Google Shape;253;p38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Planning with Confluence and Jira</a:t>
            </a:r>
            <a:endParaRPr/>
          </a:p>
        </p:txBody>
      </p:sp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Jira</a:t>
            </a:r>
            <a:r>
              <a:rPr lang="en-GB"/>
              <a:t>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creates and manages the </a:t>
            </a:r>
            <a:r>
              <a:rPr b="1" i="1" lang="en-GB"/>
              <a:t>actual</a:t>
            </a:r>
            <a:r>
              <a:rPr lang="en-GB"/>
              <a:t> project plan (based on Agile)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Confluence</a:t>
            </a:r>
            <a:r>
              <a:rPr lang="en-GB"/>
              <a:t>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provides a documentation space for the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provides templates for documenting the Sprint’s activities (meetings, risks,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 Jira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can automatically create (and link) a new Confluence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 a Scrum project with sample 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read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this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timeline: change Timeline setting to timebox each issue on the timeline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Link Confluence space to Jira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read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this tutorial</a:t>
            </a:r>
            <a:endParaRPr/>
          </a:p>
        </p:txBody>
      </p:sp>
      <p:sp>
        <p:nvSpPr>
          <p:cNvPr id="260" name="Google Shape;260;p39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71225" y="122175"/>
            <a:ext cx="8724000" cy="8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Tutorial &amp; Workshop</a:t>
            </a:r>
            <a:endParaRPr/>
          </a:p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71225" y="993775"/>
            <a:ext cx="8724000" cy="35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See Canvas.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700"/>
          </a:p>
        </p:txBody>
      </p:sp>
      <p:sp>
        <p:nvSpPr>
          <p:cNvPr id="267" name="Google Shape;267;p40"/>
          <p:cNvSpPr txBox="1"/>
          <p:nvPr>
            <p:ph idx="12" type="sldNum"/>
          </p:nvPr>
        </p:nvSpPr>
        <p:spPr>
          <a:xfrm>
            <a:off x="18233" y="47036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